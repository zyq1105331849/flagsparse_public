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6858000" cy="2667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1F9D7A"/>
                </a:solidFill>
              </a:defRPr>
            </a:pPr>
            <a:r>
              <a:rPr sz="975" b="1">
                <a:solidFill>
                  <a:srgbClr val="1F9D7A"/>
                </a:solidFill>
              </a:rPr>
              <a:t>GATHER / ROOT CAUSE</a:t>
            </a:r>
            <a:endParaRPr sz="975" b="1">
              <a:solidFill>
                <a:srgbClr val="1F9D7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81050"/>
            <a:ext cx="9906000" cy="800100"/>
          </a:xfrm>
          <a:prstGeom prst="rect">
            <a:avLst/>
          </a:prstGeom>
          <a:noFill/>
        </p:spPr>
        <p:txBody>
          <a:bodyPr/>
          <a:lstStyle/>
          <a:p>
            <a:pPr>
              <a:defRPr sz="2850" b="1">
                <a:solidFill>
                  <a:srgbClr val="182026"/>
                </a:solidFill>
              </a:defRPr>
            </a:pPr>
            <a:r>
              <a:rPr sz="2850" b="1">
                <a:solidFill>
                  <a:srgbClr val="182026"/>
                </a:solidFill>
              </a:rPr>
              <a:t>Triton 这版 gather 太薄，核心只有随机访存</a:t>
            </a:r>
            <a:endParaRPr sz="2850" b="1">
              <a:solidFill>
                <a:srgbClr val="18202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562100"/>
            <a:ext cx="9334500" cy="400050"/>
          </a:xfrm>
          <a:prstGeom prst="rect">
            <a:avLst/>
          </a:prstGeom>
          <a:noFill/>
        </p:spPr>
        <p:txBody>
          <a:bodyPr/>
          <a:lstStyle/>
          <a:p>
            <a:pPr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计算量太少，无法用算术强度掩盖访存和 launch 成本。</a:t>
            </a:r>
            <a:endParaRPr sz="1350" b="0">
              <a:solidFill>
                <a:srgbClr val="5B647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2238375"/>
            <a:ext cx="5095875" cy="1714500"/>
          </a:xfrm>
          <a:prstGeom prst="rect">
            <a:avLst/>
          </a:prstGeom>
          <a:solidFill>
            <a:srgbClr val="101820"/>
          </a:solidFill>
          <a:ln w="9525">
            <a:solidFill>
              <a:srgbClr val="2632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390775"/>
            <a:ext cx="4714875" cy="2286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8EE0C2"/>
                </a:solidFill>
              </a:defRPr>
            </a:pPr>
            <a:r>
              <a:rPr sz="975" b="1">
                <a:solidFill>
                  <a:srgbClr val="8EE0C2"/>
                </a:solidFill>
              </a:rPr>
              <a:t>Triton gather 核心逻辑</a:t>
            </a:r>
            <a:endParaRPr sz="975" b="1">
              <a:solidFill>
                <a:srgbClr val="8EE0C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695575"/>
            <a:ext cx="4714875" cy="1085850"/>
          </a:xfrm>
          <a:prstGeom prst="rect">
            <a:avLst/>
          </a:prstGeom>
          <a:noFill/>
        </p:spPr>
        <p:txBody>
          <a:bodyPr/>
          <a:lstStyle/>
          <a:p>
            <a:pPr>
              <a:defRPr sz="1725" b="0">
                <a:solidFill>
                  <a:srgbClr val="EAF2EF"/>
                </a:solidFill>
              </a:defRPr>
            </a:pPr>
            <a:r>
              <a:rPr sz="1725" b="0">
                <a:solidFill>
                  <a:srgbClr val="EAF2EF"/>
                </a:solidFill>
              </a:rPr>
              <a:t>indices = tl.load(indices_ptr + offsets)</a:t>
            </a:r>
            <a:endParaRPr sz="1725" b="0">
              <a:solidFill>
                <a:srgbClr val="EAF2EF"/>
              </a:solidFill>
            </a:endParaRPr>
          </a:p>
          <a:p>
            <a:pPr>
              <a:defRPr sz="1725" b="0">
                <a:solidFill>
                  <a:srgbClr val="EAF2EF"/>
                </a:solidFill>
              </a:defRPr>
            </a:pPr>
            <a:r>
              <a:rPr sz="1725" b="0">
                <a:solidFill>
                  <a:srgbClr val="EAF2EF"/>
                </a:solidFill>
              </a:rPr>
              <a:t>values  = tl.load(dense_values_ptr + indices)</a:t>
            </a:r>
            <a:endParaRPr sz="1725" b="0">
              <a:solidFill>
                <a:srgbClr val="EAF2EF"/>
              </a:solidFill>
            </a:endParaRPr>
          </a:p>
          <a:p>
            <a:pPr>
              <a:defRPr sz="1725" b="0">
                <a:solidFill>
                  <a:srgbClr val="EAF2EF"/>
                </a:solidFill>
              </a:defRPr>
            </a:pPr>
            <a:r>
              <a:rPr sz="1725" b="0">
                <a:solidFill>
                  <a:srgbClr val="EAF2EF"/>
                </a:solidFill>
              </a:rPr>
              <a:t>tl.store(sparse_values_ptr + offsets, values)</a:t>
            </a:r>
            <a:endParaRPr sz="1725" b="0">
              <a:solidFill>
                <a:srgbClr val="EAF2E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2171700"/>
            <a:ext cx="476250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D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2476500"/>
            <a:ext cx="3905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随机读 `dense[indices]`，内存访问不规则。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3095625"/>
            <a:ext cx="3905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standalone kernel 独立 launch，输出也要单独写回。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3714750"/>
            <a:ext cx="3905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PyTorch 的索引路径已经高度优化，尤其适合这种薄算子。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438900"/>
            <a:ext cx="10001250" cy="209550"/>
          </a:xfrm>
          <a:prstGeom prst="rect">
            <a:avLst/>
          </a:prstGeom>
          <a:noFill/>
        </p:spPr>
        <p:txBody>
          <a:bodyPr/>
          <a:lstStyle/>
          <a:p>
            <a:pPr>
              <a:defRPr sz="750" b="0">
                <a:solidFill>
                  <a:srgbClr val="8A918B"/>
                </a:solidFill>
              </a:defRPr>
            </a:pPr>
            <a:r>
              <a:rPr sz="750" b="0">
                <a:solidFill>
                  <a:srgbClr val="8A918B"/>
                </a:solidFill>
              </a:rPr>
              <a:t>Source: src/flagsparse/sparse_operations/gather_scatter.py; session 019ec3eb.</a:t>
            </a:r>
            <a:endParaRPr sz="750" b="0">
              <a:solidFill>
                <a:srgbClr val="8A918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305550"/>
            <a:ext cx="10972800" cy="9525"/>
          </a:xfrm>
          <a:prstGeom prst="rect">
            <a:avLst/>
          </a:prstGeom>
          <a:solidFill>
            <a:srgbClr val="DADDD2"/>
          </a:solidFill>
          <a:ln w="0">
            <a:solidFill>
              <a:srgbClr val="DADDD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6858000" cy="2667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1F9D7A"/>
                </a:solidFill>
              </a:defRPr>
            </a:pPr>
            <a:r>
              <a:rPr sz="975" b="1">
                <a:solidFill>
                  <a:srgbClr val="1F9D7A"/>
                </a:solidFill>
              </a:rPr>
              <a:t>PART 2 / SpSV</a:t>
            </a:r>
            <a:endParaRPr sz="975" b="1">
              <a:solidFill>
                <a:srgbClr val="1F9D7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81050"/>
            <a:ext cx="9906000" cy="800100"/>
          </a:xfrm>
          <a:prstGeom prst="rect">
            <a:avLst/>
          </a:prstGeom>
          <a:noFill/>
        </p:spPr>
        <p:txBody>
          <a:bodyPr/>
          <a:lstStyle/>
          <a:p>
            <a:pPr>
              <a:defRPr sz="2850" b="1">
                <a:solidFill>
                  <a:srgbClr val="182026"/>
                </a:solidFill>
              </a:defRPr>
            </a:pPr>
            <a:r>
              <a:rPr sz="2850" b="1">
                <a:solidFill>
                  <a:srgbClr val="182026"/>
                </a:solidFill>
              </a:rPr>
              <a:t>SpSV 使用的是 CuPy 高层 triangular solve 接口</a:t>
            </a:r>
            <a:endParaRPr sz="2850" b="1">
              <a:solidFill>
                <a:srgbClr val="18202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190750"/>
            <a:ext cx="6381750" cy="2857500"/>
          </a:xfrm>
          <a:prstGeom prst="rect">
            <a:avLst/>
          </a:prstGeom>
          <a:solidFill>
            <a:srgbClr val="101820"/>
          </a:solidFill>
          <a:ln w="9525">
            <a:solidFill>
              <a:srgbClr val="2632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343150"/>
            <a:ext cx="6000750" cy="2286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8EE0C2"/>
                </a:solidFill>
              </a:defRPr>
            </a:pPr>
            <a:r>
              <a:rPr sz="975" b="1">
                <a:solidFill>
                  <a:srgbClr val="8EE0C2"/>
                </a:solidFill>
              </a:rPr>
              <a:t>tests/test_spsv.py: CuPy SpSV timing excerpt</a:t>
            </a:r>
            <a:endParaRPr sz="975" b="1">
              <a:solidFill>
                <a:srgbClr val="8EE0C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647950"/>
            <a:ext cx="6000750" cy="2228850"/>
          </a:xfrm>
          <a:prstGeom prst="rect">
            <a:avLst/>
          </a:prstGeom>
          <a:noFill/>
        </p:spPr>
        <p:txBody>
          <a:bodyPr/>
          <a:lstStyle/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for _ in range(warmup):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    _ = cpx_spsolve_triangular(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        A_cp, b_cp, lower=lower, unit_diagonal=False)</a:t>
            </a:r>
            <a:endParaRPr sz="1275" b="0">
              <a:solidFill>
                <a:srgbClr val="EAF2EF"/>
              </a:solidFill>
            </a:endParaRPr>
          </a:p>
          <a:p>
            <a:endParaRPr sz="1275"/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t0.record()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x_cu = cpx_spsolve_triangular(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    A_cp, b_cp, lower=lower, unit_diagonal=False)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t1.record()</a:t>
            </a:r>
            <a:endParaRPr sz="1275" b="0">
              <a:solidFill>
                <a:srgbClr val="EAF2EF"/>
              </a:solidFill>
            </a:endParaRPr>
          </a:p>
          <a:p>
            <a:pPr>
              <a:defRPr sz="1275" b="0">
                <a:solidFill>
                  <a:srgbClr val="EAF2EF"/>
                </a:solidFill>
              </a:defRPr>
            </a:pPr>
            <a:r>
              <a:rPr sz="1275" b="0">
                <a:solidFill>
                  <a:srgbClr val="EAF2EF"/>
                </a:solidFill>
              </a:rPr>
              <a:t>times.append(cp.cuda.get_elapsed_time(t0, t1))</a:t>
            </a:r>
            <a:endParaRPr sz="1275" b="0">
              <a:solidFill>
                <a:srgbClr val="EAF2E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0" y="2190750"/>
            <a:ext cx="3619500" cy="1123950"/>
          </a:xfrm>
          <a:prstGeom prst="rect">
            <a:avLst/>
          </a:prstGeom>
          <a:solidFill>
            <a:srgbClr val="E8F4EF"/>
          </a:solidFill>
          <a:ln w="9525">
            <a:solidFill>
              <a:srgbClr val="E8F4E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39050" y="2362200"/>
            <a:ext cx="3200400" cy="781050"/>
          </a:xfrm>
          <a:prstGeom prst="rect">
            <a:avLst/>
          </a:prstGeom>
          <a:noFill/>
        </p:spPr>
        <p:txBody>
          <a:bodyPr/>
          <a:lstStyle/>
          <a:p>
            <a:pPr>
              <a:defRPr sz="1800" b="1">
                <a:solidFill>
                  <a:srgbClr val="182026"/>
                </a:solidFill>
              </a:defRPr>
            </a:pPr>
            <a:r>
              <a:rPr sz="1800" b="1">
                <a:solidFill>
                  <a:srgbClr val="182026"/>
                </a:solidFill>
              </a:rPr>
              <a:t>含义：`cuSPARSE_ms` 是 cupyx solve 调用延迟</a:t>
            </a:r>
            <a:endParaRPr sz="1800" b="1">
              <a:solidFill>
                <a:srgbClr val="18202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67625" y="3619500"/>
            <a:ext cx="3143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包含 event 包围的高层接口调用。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67625" y="4171950"/>
            <a:ext cx="3143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不单独拆 `bufferSize / analysis / solve`。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67625" y="4724400"/>
            <a:ext cx="314325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输入已经先修正为有效三角 CSR。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10001250" cy="209550"/>
          </a:xfrm>
          <a:prstGeom prst="rect">
            <a:avLst/>
          </a:prstGeom>
          <a:noFill/>
        </p:spPr>
        <p:txBody>
          <a:bodyPr/>
          <a:lstStyle/>
          <a:p>
            <a:pPr>
              <a:defRPr sz="750" b="0">
                <a:solidFill>
                  <a:srgbClr val="8A918B"/>
                </a:solidFill>
              </a:defRPr>
            </a:pPr>
            <a:r>
              <a:rPr sz="750" b="0">
                <a:solidFill>
                  <a:srgbClr val="8A918B"/>
                </a:solidFill>
              </a:rPr>
              <a:t>Source: tests/test_spsv.py; session 019ec517.</a:t>
            </a:r>
            <a:endParaRPr sz="750" b="0">
              <a:solidFill>
                <a:srgbClr val="8A918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305550"/>
            <a:ext cx="10972800" cy="9525"/>
          </a:xfrm>
          <a:prstGeom prst="rect">
            <a:avLst/>
          </a:prstGeom>
          <a:solidFill>
            <a:srgbClr val="DADDD2"/>
          </a:solidFill>
          <a:ln w="0">
            <a:solidFill>
              <a:srgbClr val="DADDD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6858000" cy="2667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1F9D7A"/>
                </a:solidFill>
              </a:defRPr>
            </a:pPr>
            <a:r>
              <a:rPr sz="975" b="1">
                <a:solidFill>
                  <a:srgbClr val="1F9D7A"/>
                </a:solidFill>
              </a:rPr>
              <a:t>PART 2 / SpSM</a:t>
            </a:r>
            <a:endParaRPr sz="975" b="1">
              <a:solidFill>
                <a:srgbClr val="1F9D7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81050"/>
            <a:ext cx="9906000" cy="800100"/>
          </a:xfrm>
          <a:prstGeom prst="rect">
            <a:avLst/>
          </a:prstGeom>
          <a:noFill/>
        </p:spPr>
        <p:txBody>
          <a:bodyPr/>
          <a:lstStyle/>
          <a:p>
            <a:pPr>
              <a:defRPr sz="2850" b="1">
                <a:solidFill>
                  <a:srgbClr val="182026"/>
                </a:solidFill>
              </a:defRPr>
            </a:pPr>
            <a:r>
              <a:rPr sz="2850" b="1">
                <a:solidFill>
                  <a:srgbClr val="182026"/>
                </a:solidFill>
              </a:rPr>
              <a:t>SpSM 使用 `cupyx.cusparse.spsm(...)`</a:t>
            </a:r>
            <a:endParaRPr sz="2850" b="1">
              <a:solidFill>
                <a:srgbClr val="18202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562100"/>
            <a:ext cx="9334500" cy="400050"/>
          </a:xfrm>
          <a:prstGeom prst="rect">
            <a:avLst/>
          </a:prstGeom>
          <a:noFill/>
        </p:spPr>
        <p:txBody>
          <a:bodyPr/>
          <a:lstStyle/>
          <a:p>
            <a:pPr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这里测到的是一次 full-RHS solve 接口调用的平均延迟。</a:t>
            </a:r>
            <a:endParaRPr sz="1350" b="0">
              <a:solidFill>
                <a:srgbClr val="5B647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190750"/>
            <a:ext cx="6572250" cy="3028950"/>
          </a:xfrm>
          <a:prstGeom prst="rect">
            <a:avLst/>
          </a:prstGeom>
          <a:solidFill>
            <a:srgbClr val="101820"/>
          </a:solidFill>
          <a:ln w="9525">
            <a:solidFill>
              <a:srgbClr val="2632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343150"/>
            <a:ext cx="6191250" cy="228600"/>
          </a:xfrm>
          <a:prstGeom prst="rect">
            <a:avLst/>
          </a:prstGeom>
          <a:noFill/>
        </p:spPr>
        <p:txBody>
          <a:bodyPr/>
          <a:lstStyle/>
          <a:p>
            <a:pPr>
              <a:defRPr sz="975" b="1">
                <a:solidFill>
                  <a:srgbClr val="8EE0C2"/>
                </a:solidFill>
              </a:defRPr>
            </a:pPr>
            <a:r>
              <a:rPr sz="975" b="1">
                <a:solidFill>
                  <a:srgbClr val="8EE0C2"/>
                </a:solidFill>
              </a:rPr>
              <a:t>tests/test_spsm.py: CuPy SpSM timing excerpt</a:t>
            </a:r>
            <a:endParaRPr sz="975" b="1">
              <a:solidFill>
                <a:srgbClr val="8EE0C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647950"/>
            <a:ext cx="6191250" cy="2400300"/>
          </a:xfrm>
          <a:prstGeom prst="rect">
            <a:avLst/>
          </a:prstGeom>
          <a:noFill/>
        </p:spPr>
        <p:txBody>
          <a:bodyPr/>
          <a:lstStyle/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for _ in range(warmup):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    _ = cpx_cusparse.spsm(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        A_cp, B_cp, lower=True,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        unit_diag=False, transa=False)</a:t>
            </a:r>
            <a:endParaRPr sz="1200" b="0">
              <a:solidFill>
                <a:srgbClr val="EAF2EF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c0.record()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X_cp = cpx_cusparse.spsm(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    A_cp, B_cp, lower=True,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    unit_diag=False, transa=False)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c1.record()</a:t>
            </a:r>
            <a:endParaRPr sz="1200" b="0">
              <a:solidFill>
                <a:srgbClr val="EAF2EF"/>
              </a:solidFill>
            </a:endParaRPr>
          </a:p>
          <a:p>
            <a:pPr>
              <a:defRPr sz="1200" b="0">
                <a:solidFill>
                  <a:srgbClr val="EAF2EF"/>
                </a:solidFill>
              </a:defRPr>
            </a:pPr>
            <a:r>
              <a:rPr sz="1200" b="0">
                <a:solidFill>
                  <a:srgbClr val="EAF2EF"/>
                </a:solidFill>
              </a:rPr>
              <a:t>times.append(cp.cuda.get_elapsed_time(c0, c1))</a:t>
            </a:r>
            <a:endParaRPr sz="1200" b="0">
              <a:solidFill>
                <a:srgbClr val="EAF2E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67625" y="220980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905750" y="2457450"/>
            <a:ext cx="2667000" cy="285750"/>
          </a:xfrm>
          <a:prstGeom prst="rect">
            <a:avLst/>
          </a:prstGeom>
          <a:noFill/>
        </p:spPr>
        <p:txBody>
          <a:bodyPr/>
          <a:lstStyle/>
          <a:p>
            <a:pPr>
              <a:defRPr sz="1800" b="1">
                <a:solidFill>
                  <a:srgbClr val="182026"/>
                </a:solidFill>
              </a:defRPr>
            </a:pPr>
            <a:r>
              <a:rPr sz="1800" b="1">
                <a:solidFill>
                  <a:srgbClr val="182026"/>
                </a:solidFill>
              </a:rPr>
              <a:t>关键点</a:t>
            </a:r>
            <a:endParaRPr sz="1800" b="1">
              <a:solidFill>
                <a:srgbClr val="18202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05750" y="3048000"/>
            <a:ext cx="266700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默认 `warmup=10`、`iters=20`。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05750" y="3600450"/>
            <a:ext cx="266700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baseline 与 FlagSparse 使用同一有效下三角。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0" y="4152900"/>
            <a:ext cx="2667000" cy="438150"/>
          </a:xfrm>
          <a:prstGeom prst="rect">
            <a:avLst/>
          </a:prstGeom>
          <a:noFill/>
        </p:spPr>
        <p:txBody>
          <a:bodyPr/>
          <a:lstStyle/>
          <a:p>
            <a:pPr>
              <a:defRPr sz="1500" b="0">
                <a:solidFill>
                  <a:srgbClr val="182026"/>
                </a:solidFill>
              </a:defRPr>
            </a:pPr>
            <a:r>
              <a:rPr sz="1500" b="0">
                <a:solidFill>
                  <a:srgbClr val="182026"/>
                </a:solidFill>
              </a:rPr>
              <a:t>- 不是 C++ 原生 `SpSM_bufferSize/analysis/solve` 明细。</a:t>
            </a:r>
            <a:endParaRPr sz="1500" b="0">
              <a:solidFill>
                <a:srgbClr val="18202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10001250" cy="209550"/>
          </a:xfrm>
          <a:prstGeom prst="rect">
            <a:avLst/>
          </a:prstGeom>
          <a:noFill/>
        </p:spPr>
        <p:txBody>
          <a:bodyPr/>
          <a:lstStyle/>
          <a:p>
            <a:pPr>
              <a:defRPr sz="750" b="0">
                <a:solidFill>
                  <a:srgbClr val="8A918B"/>
                </a:solidFill>
              </a:defRPr>
            </a:pPr>
            <a:r>
              <a:rPr sz="750" b="0">
                <a:solidFill>
                  <a:srgbClr val="8A918B"/>
                </a:solidFill>
              </a:rPr>
              <a:t>Source: tests/test_spsm.py; session 019ec517.</a:t>
            </a:r>
            <a:endParaRPr sz="750" b="0">
              <a:solidFill>
                <a:srgbClr val="8A918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305550"/>
            <a:ext cx="10972800" cy="9525"/>
          </a:xfrm>
          <a:prstGeom prst="rect">
            <a:avLst/>
          </a:prstGeom>
          <a:solidFill>
            <a:srgbClr val="DADDD2"/>
          </a:solidFill>
          <a:ln w="0">
            <a:solidFill>
              <a:srgbClr val="DADDD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WPS 表格</Application>
  <PresentationFormat>Converted Presentation</PresentationFormat>
  <Paragraphs>76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宋体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87峰年</cp:lastModifiedBy>
  <cp:revision>1</cp:revision>
  <dcterms:created xsi:type="dcterms:W3CDTF">2026-06-16T15:55:51Z</dcterms:created>
  <dcterms:modified xsi:type="dcterms:W3CDTF">2026-06-16T15:55:51Z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6F69CD689561BE660772316AC17ED452_42</vt:lpwstr>
  </property>
</Properties>
</file>